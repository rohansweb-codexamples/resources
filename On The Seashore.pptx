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Caveat"/>
      <p:regular r:id="rId10"/>
      <p:bold r:id="rId11"/>
    </p:embeddedFont>
    <p:embeddedFont>
      <p:font typeface="Lobster"/>
      <p:regular r:id="rId12"/>
    </p:embeddedFont>
    <p:embeddedFont>
      <p:font typeface="Montserrat"/>
      <p:regular r:id="rId13"/>
      <p:bold r:id="rId14"/>
      <p:italic r:id="rId15"/>
      <p:boldItalic r:id="rId16"/>
    </p:embeddedFont>
    <p:embeddedFont>
      <p:font typeface="Lat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Italic.fntdata"/><Relationship Id="rId11" Type="http://schemas.openxmlformats.org/officeDocument/2006/relationships/font" Target="fonts/Caveat-bold.fntdata"/><Relationship Id="rId10" Type="http://schemas.openxmlformats.org/officeDocument/2006/relationships/font" Target="fonts/Caveat-regular.fntdata"/><Relationship Id="rId13" Type="http://schemas.openxmlformats.org/officeDocument/2006/relationships/font" Target="fonts/Montserrat-regular.fntdata"/><Relationship Id="rId12" Type="http://schemas.openxmlformats.org/officeDocument/2006/relationships/font" Target="fonts/Lobster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ontserrat-italic.fntdata"/><Relationship Id="rId14" Type="http://schemas.openxmlformats.org/officeDocument/2006/relationships/font" Target="fonts/Montserrat-bold.fntdata"/><Relationship Id="rId17" Type="http://schemas.openxmlformats.org/officeDocument/2006/relationships/font" Target="fonts/Lato-regular.fntdata"/><Relationship Id="rId16" Type="http://schemas.openxmlformats.org/officeDocument/2006/relationships/font" Target="fonts/Montserrat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italic.fntdata"/><Relationship Id="rId6" Type="http://schemas.openxmlformats.org/officeDocument/2006/relationships/slide" Target="slides/slide1.xml"/><Relationship Id="rId18" Type="http://schemas.openxmlformats.org/officeDocument/2006/relationships/font" Target="fonts/La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da0defe30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da0defe30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dc34459417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2dc34459417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e694f480f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2e694f480f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300">
                <a:latin typeface="Lobster"/>
                <a:ea typeface="Lobster"/>
                <a:cs typeface="Lobster"/>
                <a:sym typeface="Lobster"/>
              </a:rPr>
              <a:t>On The Seashore</a:t>
            </a:r>
            <a:endParaRPr sz="5300"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latin typeface="Arial"/>
                <a:ea typeface="Arial"/>
                <a:cs typeface="Arial"/>
                <a:sym typeface="Arial"/>
              </a:rPr>
              <a:t>By Rohan West</a:t>
            </a:r>
            <a:endParaRPr sz="2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3"/>
          <p:cNvSpPr/>
          <p:nvPr/>
        </p:nvSpPr>
        <p:spPr>
          <a:xfrm>
            <a:off x="753957" y="3330234"/>
            <a:ext cx="1469700" cy="1469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7" name="Google Shape;137;p13"/>
          <p:cNvSpPr/>
          <p:nvPr/>
        </p:nvSpPr>
        <p:spPr>
          <a:xfrm>
            <a:off x="7170744" y="249974"/>
            <a:ext cx="1469700" cy="1469700"/>
          </a:xfrm>
          <a:prstGeom prst="ellipse">
            <a:avLst/>
          </a:prstGeom>
          <a:solidFill>
            <a:schemeClr val="accent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8" name="Google Shape;138;p13"/>
          <p:cNvSpPr/>
          <p:nvPr/>
        </p:nvSpPr>
        <p:spPr>
          <a:xfrm>
            <a:off x="3105326" y="1314075"/>
            <a:ext cx="5616600" cy="1469700"/>
          </a:xfrm>
          <a:prstGeom prst="frame">
            <a:avLst>
              <a:gd fmla="val 12500" name="adj1"/>
            </a:avLst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4"/>
          <p:cNvSpPr txBox="1"/>
          <p:nvPr>
            <p:ph idx="4294967295" type="ctrTitle"/>
          </p:nvPr>
        </p:nvSpPr>
        <p:spPr>
          <a:xfrm>
            <a:off x="712325" y="2622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400" u="sng">
                <a:latin typeface="Lobster"/>
                <a:ea typeface="Lobster"/>
                <a:cs typeface="Lobster"/>
                <a:sym typeface="Lobster"/>
              </a:rPr>
              <a:t>Introduction</a:t>
            </a:r>
            <a:endParaRPr sz="4400" u="sng"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144" name="Google Shape;144;p14"/>
          <p:cNvSpPr txBox="1"/>
          <p:nvPr>
            <p:ph idx="4294967295" type="subTitle"/>
          </p:nvPr>
        </p:nvSpPr>
        <p:spPr>
          <a:xfrm>
            <a:off x="778400" y="1039906"/>
            <a:ext cx="5794800" cy="3574200"/>
          </a:xfrm>
          <a:prstGeom prst="rect">
            <a:avLst/>
          </a:prstGeom>
          <a:solidFill>
            <a:srgbClr val="FF9900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latin typeface="Caveat"/>
                <a:ea typeface="Caveat"/>
                <a:cs typeface="Caveat"/>
                <a:sym typeface="Caveat"/>
              </a:rPr>
              <a:t>At the seashore you can play, </a:t>
            </a:r>
            <a:r>
              <a:rPr lang="en-GB" sz="2500">
                <a:latin typeface="Caveat"/>
                <a:ea typeface="Caveat"/>
                <a:cs typeface="Caveat"/>
                <a:sym typeface="Caveat"/>
              </a:rPr>
              <a:t>build</a:t>
            </a:r>
            <a:r>
              <a:rPr lang="en-GB" sz="2500">
                <a:latin typeface="Caveat"/>
                <a:ea typeface="Caveat"/>
                <a:cs typeface="Caveat"/>
                <a:sym typeface="Caveat"/>
              </a:rPr>
              <a:t> a </a:t>
            </a:r>
            <a:r>
              <a:rPr lang="en-GB" sz="2500">
                <a:latin typeface="Caveat"/>
                <a:ea typeface="Caveat"/>
                <a:cs typeface="Caveat"/>
                <a:sym typeface="Caveat"/>
              </a:rPr>
              <a:t>sandcastle</a:t>
            </a:r>
            <a:r>
              <a:rPr lang="en-GB" sz="2500">
                <a:latin typeface="Caveat"/>
                <a:ea typeface="Caveat"/>
                <a:cs typeface="Caveat"/>
                <a:sym typeface="Caveat"/>
              </a:rPr>
              <a:t>, have a picnic and swim in the sea. </a:t>
            </a:r>
            <a:endParaRPr sz="2500">
              <a:latin typeface="Caveat"/>
              <a:ea typeface="Caveat"/>
              <a:cs typeface="Caveat"/>
              <a:sym typeface="Caveat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500">
                <a:latin typeface="Caveat"/>
                <a:ea typeface="Caveat"/>
                <a:cs typeface="Caveat"/>
                <a:sym typeface="Caveat"/>
              </a:rPr>
              <a:t>You can look in rockpools </a:t>
            </a:r>
            <a:endParaRPr sz="2500">
              <a:latin typeface="Caveat"/>
              <a:ea typeface="Caveat"/>
              <a:cs typeface="Caveat"/>
              <a:sym typeface="Caveat"/>
            </a:endParaRPr>
          </a:p>
        </p:txBody>
      </p:sp>
      <p:pic>
        <p:nvPicPr>
          <p:cNvPr id="145" name="Google Shape;145;p14" title="Your Basic Plastic Bucket Sandcastle | Michael Coghlan | Flickr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81850" y="2336850"/>
            <a:ext cx="3703626" cy="280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4" title="File:Aberdour Bay, Rock pool - geograph.org.uk - 825647.jpg ..."/>
          <p:cNvPicPr preferRelativeResize="0"/>
          <p:nvPr/>
        </p:nvPicPr>
        <p:blipFill rotWithShape="1">
          <a:blip r:embed="rId4">
            <a:alphaModFix/>
          </a:blip>
          <a:srcRect b="134680" l="-33890" r="33889" t="-134680"/>
          <a:stretch/>
        </p:blipFill>
        <p:spPr>
          <a:xfrm>
            <a:off x="2855925" y="2398994"/>
            <a:ext cx="3112019" cy="207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4" title="File:Sea.jpg - Wikipedia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8400" y="3359575"/>
            <a:ext cx="2170276" cy="1627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p14:dur="100">
        <p:push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solidFill>
            <a:srgbClr val="FF9900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500"/>
              <a:t>Human features</a:t>
            </a:r>
            <a:endParaRPr sz="3500"/>
          </a:p>
        </p:txBody>
      </p:sp>
      <p:sp>
        <p:nvSpPr>
          <p:cNvPr id="153" name="Google Shape;153;p1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  <a:solidFill>
            <a:schemeClr val="accent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>
                <a:latin typeface="Arial"/>
                <a:ea typeface="Arial"/>
                <a:cs typeface="Arial"/>
                <a:sym typeface="Arial"/>
              </a:rPr>
              <a:t>Human features are made by humans.</a:t>
            </a:r>
            <a:endParaRPr sz="2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300">
                <a:latin typeface="Arial"/>
                <a:ea typeface="Arial"/>
                <a:cs typeface="Arial"/>
                <a:sym typeface="Arial"/>
              </a:rPr>
              <a:t>Houses and roads are human features.</a:t>
            </a:r>
            <a:endParaRPr sz="23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p15" title="File:Southend Pier Autumn 2007 - crop.jpg - Wikimedia Commons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4650" y="2728050"/>
            <a:ext cx="4213673" cy="2415449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5"/>
          <p:cNvSpPr txBox="1"/>
          <p:nvPr/>
        </p:nvSpPr>
        <p:spPr>
          <a:xfrm>
            <a:off x="5538200" y="3125650"/>
            <a:ext cx="457500" cy="2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6" name="Google Shape;156;p15"/>
          <p:cNvSpPr txBox="1"/>
          <p:nvPr/>
        </p:nvSpPr>
        <p:spPr>
          <a:xfrm>
            <a:off x="5064875" y="2967875"/>
            <a:ext cx="1814400" cy="8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pier</a:t>
            </a:r>
            <a:endParaRPr sz="3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300" u="sng">
                <a:latin typeface="Lobster"/>
                <a:ea typeface="Lobster"/>
                <a:cs typeface="Lobster"/>
                <a:sym typeface="Lobster"/>
              </a:rPr>
              <a:t>Sea creatures</a:t>
            </a:r>
            <a:endParaRPr sz="3300" u="sng">
              <a:latin typeface="Lobster"/>
              <a:ea typeface="Lobster"/>
              <a:cs typeface="Lobster"/>
              <a:sym typeface="Lobster"/>
            </a:endParaRPr>
          </a:p>
        </p:txBody>
      </p:sp>
      <p:pic>
        <p:nvPicPr>
          <p:cNvPr id="162" name="Google Shape;162;p16" title="Starfish Free Stock Photo - Public Domain Pictures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4475" y="2663825"/>
            <a:ext cx="3344299" cy="2479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6" title="Acanthaster brevispinus - Wikipedia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53041" y="393750"/>
            <a:ext cx="3306235" cy="247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6"/>
          <p:cNvSpPr txBox="1"/>
          <p:nvPr/>
        </p:nvSpPr>
        <p:spPr>
          <a:xfrm>
            <a:off x="198925" y="1662400"/>
            <a:ext cx="4006800" cy="3140100"/>
          </a:xfrm>
          <a:prstGeom prst="rect">
            <a:avLst/>
          </a:prstGeom>
          <a:solidFill>
            <a:schemeClr val="accent5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lt1"/>
                </a:solidFill>
                <a:latin typeface="Comic Sans MS"/>
                <a:ea typeface="Comic Sans MS"/>
                <a:cs typeface="Comic Sans MS"/>
                <a:sym typeface="Comic Sans MS"/>
              </a:rPr>
              <a:t>Starfish normally have five arms but some have more. When one of their</a:t>
            </a:r>
            <a:endParaRPr sz="2400">
              <a:solidFill>
                <a:schemeClr val="lt1"/>
              </a:solidFill>
              <a:latin typeface="Comic Sans MS"/>
              <a:ea typeface="Comic Sans MS"/>
              <a:cs typeface="Comic Sans MS"/>
              <a:sym typeface="Comic Sans M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lt1"/>
                </a:solidFill>
                <a:latin typeface="Comic Sans MS"/>
                <a:ea typeface="Comic Sans MS"/>
                <a:cs typeface="Comic Sans MS"/>
                <a:sym typeface="Comic Sans MS"/>
              </a:rPr>
              <a:t>arms fall off they grow back. </a:t>
            </a:r>
            <a:endParaRPr sz="2400">
              <a:solidFill>
                <a:schemeClr val="lt1"/>
              </a:solidFill>
              <a:latin typeface="Comic Sans MS"/>
              <a:ea typeface="Comic Sans MS"/>
              <a:cs typeface="Comic Sans MS"/>
              <a:sym typeface="Comic Sans M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lt1"/>
                </a:solidFill>
                <a:latin typeface="Comic Sans MS"/>
                <a:ea typeface="Comic Sans MS"/>
                <a:cs typeface="Comic Sans MS"/>
                <a:sym typeface="Comic Sans MS"/>
              </a:rPr>
              <a:t> </a:t>
            </a:r>
            <a:endParaRPr sz="2400">
              <a:solidFill>
                <a:schemeClr val="lt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